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2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1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73152" cy="6858000"/>
          </a:xfrm>
          <a:prstGeom prst="rect">
            <a:avLst/>
          </a:prstGeom>
          <a:solidFill>
            <a:srgbClr val="249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Verdana"/>
              </a:rPr>
              <a:t>DNA for the Royal Dutch Army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ACCD4"/>
                </a:solidFill>
                <a:latin typeface="Verdana"/>
              </a:rPr>
              <a:t>Leading the Transition to Data Centric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520440"/>
            <a:ext cx="9144000" cy="54864"/>
          </a:xfrm>
          <a:prstGeom prst="rect">
            <a:avLst/>
          </a:prstGeom>
          <a:solidFill>
            <a:srgbClr val="E1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7490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CCD4"/>
                </a:solidFill>
                <a:latin typeface="Verdana"/>
              </a:rPr>
              <a:t>Carlo Wesseling  |  CDO Royal Dutch Army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51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AAA90"/>
                </a:solidFill>
                <a:latin typeface="Verdana"/>
              </a:rPr>
              <a:t>5-minute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E1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</a:rPr>
              <a:t>Why |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CCD4"/>
                </a:solidFill>
                <a:latin typeface="Verdana"/>
              </a:rPr>
              <a:t>The challenge we 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4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CCD4"/>
                </a:solidFill>
                <a:latin typeface="Verdana"/>
              </a:rPr>
              <a:t>Carlo Wesseling  |  CDO Royal Dutch Army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 b="1">
                <a:solidFill>
                  <a:srgbClr val="1A1A1A"/>
                </a:solidFill>
                <a:latin typeface="Verdana"/>
              </a:rPr>
              <a:t>• As CDO for the Army: leading transformation to data-driven operations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333333"/>
                </a:solidFill>
                <a:latin typeface="Verdana"/>
              </a:rPr>
              <a:t>  – Training data &amp; sensor data volumes are growing rapidly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1A1A1A"/>
                </a:solidFill>
                <a:latin typeface="Verdana"/>
              </a:rPr>
              <a:t>• Preparing for NATO operations exposes vulnerabilities in our data infrastructure</a:t>
            </a:r>
          </a:p>
          <a:p>
            <a:pPr lvl="1">
              <a:spcBef>
                <a:spcPts val="200"/>
              </a:spcBef>
            </a:pPr>
            <a:r>
              <a:rPr sz="1700" b="0">
                <a:solidFill>
                  <a:srgbClr val="333333"/>
                </a:solidFill>
                <a:latin typeface="Verdana"/>
              </a:rPr>
              <a:t>  – We lack a sovereign, resilient long-term data store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1A1A1A"/>
                </a:solidFill>
                <a:latin typeface="Verdana"/>
              </a:rPr>
              <a:t>• The question: is there a storage technology fit for military-grade permanence?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F0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E1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</a:rPr>
              <a:t>What | DNA Storage — Key Attributes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CCD4"/>
                </a:solidFill>
                <a:latin typeface="Verdana"/>
              </a:rPr>
              <a:t>Assessment against Army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4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CCD4"/>
                </a:solidFill>
                <a:latin typeface="Verdana"/>
              </a:rPr>
              <a:t>Carlo Wesseling  |  CDO Royal Dutch Army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120640" cy="411480"/>
          </a:xfrm>
          <a:prstGeom prst="rect">
            <a:avLst/>
          </a:prstGeom>
          <a:solidFill>
            <a:srgbClr val="004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7218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Verdana"/>
              </a:rPr>
              <a:t>WRITE ONCE / READ RARELY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2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Verdana"/>
              </a:rPr>
              <a:t>Ideal for archival. DNA is written, stored, and read on demand — not streamed. Latency is acceptable.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697480"/>
            <a:ext cx="5120640" cy="411480"/>
          </a:xfrm>
          <a:prstGeom prst="rect">
            <a:avLst/>
          </a:prstGeom>
          <a:solidFill>
            <a:srgbClr val="004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5234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Verdana"/>
              </a:rPr>
              <a:t>STORE FOREVER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Verdana"/>
              </a:rPr>
              <a:t>DNA is stable for thousands of years. Far exceeds tape/disk archival lifespans.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417320"/>
            <a:ext cx="5120640" cy="411480"/>
          </a:xfrm>
          <a:prstGeom prst="rect">
            <a:avLst/>
          </a:prstGeom>
          <a:solidFill>
            <a:srgbClr val="004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47218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Verdana"/>
              </a:rPr>
              <a:t>NOT OPERATIONAL / NOT LATENCY-SENSITIVE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87452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Verdana"/>
              </a:rPr>
              <a:t>No real-time retrieval needed. Archive use cases tolerate hours-to-days access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2697480"/>
            <a:ext cx="5120640" cy="411480"/>
          </a:xfrm>
          <a:prstGeom prst="rect">
            <a:avLst/>
          </a:prstGeom>
          <a:solidFill>
            <a:srgbClr val="004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75234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Verdana"/>
              </a:rPr>
              <a:t>EXTREME DENSITY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1546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Verdana"/>
              </a:rPr>
              <a:t>Petabytes in grams. Strategic archives can be physically concealed or exfiltrated.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120640"/>
            <a:ext cx="10972800" cy="594360"/>
          </a:xfrm>
          <a:prstGeom prst="rect">
            <a:avLst/>
          </a:prstGeom>
          <a:solidFill>
            <a:srgbClr val="FFE8CC"/>
          </a:solidFill>
          <a:ln w="19050">
            <a:solidFill>
              <a:srgbClr val="E16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19379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A3000"/>
                </a:solidFill>
                <a:latin typeface="Verdana"/>
              </a:rPr>
              <a:t>Verdict: DNA matches the Army's archival profile — write once, store forever, retrieve when needed.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F0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188720"/>
          </a:xfrm>
          <a:prstGeom prst="rect">
            <a:avLst/>
          </a:prstGeom>
          <a:solidFill>
            <a:srgbClr val="E1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</a:rPr>
              <a:t>So What | Applications for the Army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77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CCD4"/>
                </a:solidFill>
                <a:latin typeface="Verdana"/>
              </a:rPr>
              <a:t>Three compelling use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4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653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CCD4"/>
                </a:solidFill>
                <a:latin typeface="Verdana"/>
              </a:rPr>
              <a:t>Carlo Wesseling  |  CDO Royal Dutch Army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02920" cy="502920"/>
          </a:xfrm>
          <a:prstGeom prst="rect">
            <a:avLst/>
          </a:prstGeom>
          <a:solidFill>
            <a:srgbClr val="004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4173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4227"/>
                </a:solidFill>
                <a:latin typeface="Verdana"/>
              </a:rPr>
              <a:t>SOVEREIGN STRATEGIC ARCHIVE  (Primary)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947672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Verdana"/>
              </a:rPr>
              <a:t>Post-catastrophic recovery. Entire operational history, maps, doctrine, and intelligence — preserved in DNA, accessible even after total infrastructure loss.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017520"/>
            <a:ext cx="502920" cy="502920"/>
          </a:xfrm>
          <a:prstGeom prst="rect">
            <a:avLst/>
          </a:prstGeom>
          <a:solidFill>
            <a:srgbClr val="249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0632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0175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94C5"/>
                </a:solidFill>
                <a:latin typeface="Verdana"/>
              </a:rPr>
              <a:t>COVERT INTELLIGENCE EXTRACTION FROM DENIED ENVIRONMENTS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547872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Verdana"/>
              </a:rPr>
              <a:t>Physically smuggle DNA-encoded intelligence out of areas where electronic communication is impossible or compromised. Microscopic, undetectable, durable.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617720"/>
            <a:ext cx="502920" cy="502920"/>
          </a:xfrm>
          <a:prstGeom prst="rect">
            <a:avLst/>
          </a:prstGeom>
          <a:solidFill>
            <a:srgbClr val="249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6634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6177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494C5"/>
                </a:solidFill>
                <a:latin typeface="Verdana"/>
              </a:rPr>
              <a:t>LONG-HORIZON ML TRAINING DATA ARCHIVE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148072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Verdana"/>
              </a:rPr>
              <a:t>Sensor logs and training datasets stored at scale for future AI systems. DNA density makes multi-decade retention economically feasible.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F0F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2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1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73152" cy="6858000"/>
          </a:xfrm>
          <a:prstGeom prst="rect">
            <a:avLst/>
          </a:prstGeom>
          <a:solidFill>
            <a:srgbClr val="2494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16F00"/>
                </a:solidFill>
                <a:latin typeface="Verdana"/>
              </a:rPr>
              <a:t>The 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8229600" cy="54864"/>
          </a:xfrm>
          <a:prstGeom prst="rect">
            <a:avLst/>
          </a:prstGeom>
          <a:solidFill>
            <a:srgbClr val="E1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900" b="1">
                <a:solidFill>
                  <a:srgbClr val="FFFFFF"/>
                </a:solidFill>
                <a:latin typeface="Verdana"/>
              </a:rPr>
              <a:t>• Pilot: commission a DNA write/read test against one classified archive dataset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FFFFFF"/>
                </a:solidFill>
                <a:latin typeface="Verdana"/>
              </a:rPr>
              <a:t>• Partnership with TU Delft / TNO for sovereign Dutch DNA synthesis capability</a:t>
            </a:r>
          </a:p>
          <a:p>
            <a:pPr>
              <a:spcBef>
                <a:spcPts val="400"/>
              </a:spcBef>
            </a:pPr>
            <a:r>
              <a:rPr sz="1900" b="1">
                <a:solidFill>
                  <a:srgbClr val="FFFFFF"/>
                </a:solidFill>
                <a:latin typeface="Verdana"/>
              </a:rPr>
              <a:t>• Assess NATO interoperability for post-catastrophic recovery scenarios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ACCD4"/>
                </a:solidFill>
                <a:latin typeface="Verdana"/>
              </a:rPr>
              <a:t>DNA storage is not science fiction — it is procurement-ready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